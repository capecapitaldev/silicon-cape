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CHAIN — BY REVENUE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estimated annual segment revenue (USD bn)  ·  Oilfield Services supports Upstream — not a sequential step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2286000"/>
            <a:ext cx="8412480" cy="0"/>
          </a:xfrm>
          <a:prstGeom prst="line">
            <a:avLst/>
          </a:prstGeom>
          <a:noFill/>
          <a:ln w="12700">
            <a:solidFill>
              <a:srgbClr val="344A62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1784527" y="2286000"/>
            <a:ext cx="735349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497" y="1772489"/>
            <a:ext cx="1027022" cy="1027022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497" y="2215591"/>
            <a:ext cx="102702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$1500bn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890951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E&amp;P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327499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&amp;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0844" y="2286000"/>
            <a:ext cx="873845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3884" y="1989524"/>
            <a:ext cx="592952" cy="592952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3884" y="2234794"/>
            <a:ext cx="592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6739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Midstream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0579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Storage &amp; LNG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92735" y="2286000"/>
            <a:ext cx="507381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78697" y="1910985"/>
            <a:ext cx="750031" cy="750031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8697" y="2234794"/>
            <a:ext cx="75003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$800bn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76472" y="2752455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76472" y="3136503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54012" y="2286000"/>
            <a:ext cx="544362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64124" y="1623060"/>
            <a:ext cx="1325880" cy="1325880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64124" y="2196389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$2500bn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9824" y="30403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9824" y="34244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Processing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62382" y="1947966"/>
            <a:ext cx="676069" cy="676069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62382" y="2234794"/>
            <a:ext cx="67606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$650bn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23176" y="271547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23176" y="309952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Chemicals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07008" y="2854375"/>
            <a:ext cx="0" cy="820351"/>
          </a:xfrm>
          <a:prstGeom prst="line">
            <a:avLst/>
          </a:prstGeom>
          <a:noFill/>
          <a:ln w="12700">
            <a:solidFill>
              <a:srgbClr val="5A709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58959" y="3729591"/>
            <a:ext cx="496099" cy="496099"/>
          </a:xfrm>
          <a:prstGeom prst="ellipse">
            <a:avLst/>
          </a:prstGeom>
          <a:solidFill>
            <a:srgbClr val="C9A84C">
              <a:alpha val="60000"/>
            </a:srgbClr>
          </a:solidFill>
          <a:ln w="19050">
            <a:solidFill>
              <a:srgbClr val="C9A84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58959" y="3926434"/>
            <a:ext cx="49609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$350bn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64785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Oilfield Services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64785" y="40873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 &amp; Well Services  ·  support function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38328"/>
          </a:xfrm>
          <a:prstGeom prst="rect">
            <a:avLst/>
          </a:prstGeom>
          <a:solidFill>
            <a:srgbClr val="1622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 generates the most revenue — but the thinnest margins. Flip to the next slide to see where value actually accumulates.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CHAIN — PROFIT POOL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estimated annual profit pool (USD bn)  ·  Upstream E&amp;P captures the dominant share of industry profit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2286000"/>
            <a:ext cx="8412480" cy="0"/>
          </a:xfrm>
          <a:prstGeom prst="line">
            <a:avLst/>
          </a:prstGeom>
          <a:noFill/>
          <a:ln w="12700">
            <a:solidFill>
              <a:srgbClr val="344A62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1933956" y="2286000"/>
            <a:ext cx="694888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068" y="1623060"/>
            <a:ext cx="1325880" cy="1325880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4068" y="2196389"/>
            <a:ext cx="1325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$500bn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30403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E&amp;P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34244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&amp;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31876" y="2286000"/>
            <a:ext cx="1243004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2852" y="2098492"/>
            <a:ext cx="375015" cy="375015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897324"/>
            <a:ext cx="0" cy="164592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7144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$40bn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5649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Midstream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9489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Storage &amp; LNG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32545" y="2286000"/>
            <a:ext cx="1220871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8887" y="2171175"/>
            <a:ext cx="229649" cy="229649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1970007"/>
            <a:ext cx="0" cy="164592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1787127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$15bn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76472" y="2492265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76472" y="2876313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Traders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00712" y="2286000"/>
            <a:ext cx="1106047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7424" y="2076360"/>
            <a:ext cx="419280" cy="419280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7424" y="2234794"/>
            <a:ext cx="419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49824" y="2587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9824" y="2971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Processing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70767" y="2056351"/>
            <a:ext cx="459298" cy="459298"/>
          </a:xfrm>
          <a:prstGeom prst="ellipse">
            <a:avLst/>
          </a:prstGeom>
          <a:solidFill>
            <a:srgbClr val="C9A84C">
              <a:alpha val="85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70767" y="2234794"/>
            <a:ext cx="45929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$60bn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23176" y="2607089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23176" y="2991137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Chemicals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07008" y="3003804"/>
            <a:ext cx="0" cy="756586"/>
          </a:xfrm>
          <a:prstGeom prst="line">
            <a:avLst/>
          </a:prstGeom>
          <a:noFill/>
          <a:ln w="12700">
            <a:solidFill>
              <a:srgbClr val="5A709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44622" y="3815254"/>
            <a:ext cx="324773" cy="324773"/>
          </a:xfrm>
          <a:prstGeom prst="ellipse">
            <a:avLst/>
          </a:prstGeom>
          <a:solidFill>
            <a:srgbClr val="C9A84C">
              <a:alpha val="60000"/>
            </a:srgbClr>
          </a:solidFill>
          <a:ln w="19050">
            <a:solidFill>
              <a:srgbClr val="C9A84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44622" y="3926434"/>
            <a:ext cx="324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479122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Oilfield Services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79122" y="40873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 &amp; Well Services  ·  support function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38328"/>
          </a:xfrm>
          <a:prstGeom prst="rect">
            <a:avLst/>
          </a:prstGeom>
          <a:solidFill>
            <a:srgbClr val="16224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E&amp;P dominates the profit pool. Refining's revenue leadership disappears on a profit basis — crack spreads are cyclical and structurally thin.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BARREL OF OIL ACTUALLY BECOMES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energy transition targets combustion. Non-combustion demand is structurally inelastic — and growing.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0" y="877824"/>
            <a:ext cx="0" cy="374904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4528" y="2377440"/>
            <a:ext cx="694944" cy="594360"/>
          </a:xfrm>
          <a:prstGeom prst="ellipse">
            <a:avLst/>
          </a:prstGeom>
          <a:solidFill>
            <a:srgbClr val="C9A8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4528" y="2468880"/>
            <a:ext cx="69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77824"/>
            <a:ext cx="4069080" cy="475488"/>
          </a:xfrm>
          <a:prstGeom prst="rect">
            <a:avLst/>
          </a:prstGeom>
          <a:solidFill>
            <a:srgbClr val="200A02"/>
          </a:solidFill>
          <a:ln w="12700">
            <a:solidFill>
              <a:srgbClr val="D47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7782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COMBUSTION  ·  ~92–93%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" y="1435608"/>
            <a:ext cx="4069080" cy="484632"/>
          </a:xfrm>
          <a:prstGeom prst="rect">
            <a:avLst/>
          </a:prstGeom>
          <a:solidFill>
            <a:srgbClr val="200A02"/>
          </a:solidFill>
          <a:ln w="9525">
            <a:solidFill>
              <a:srgbClr val="D47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35608"/>
            <a:ext cx="54864" cy="484632"/>
          </a:xfrm>
          <a:prstGeom prst="rect">
            <a:avLst/>
          </a:prstGeom>
          <a:solidFill>
            <a:srgbClr val="D4703A"/>
          </a:solidFill>
          <a:ln w="12700">
            <a:solidFill>
              <a:srgbClr val="D47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1472184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" y="1691640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B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transport, rail, heating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039112"/>
            <a:ext cx="4069080" cy="484632"/>
          </a:xfrm>
          <a:prstGeom prst="rect">
            <a:avLst/>
          </a:prstGeom>
          <a:solidFill>
            <a:srgbClr val="200A02"/>
          </a:solidFill>
          <a:ln w="9525">
            <a:solidFill>
              <a:srgbClr val="D47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039112"/>
            <a:ext cx="54864" cy="484632"/>
          </a:xfrm>
          <a:prstGeom prst="rect">
            <a:avLst/>
          </a:prstGeom>
          <a:solidFill>
            <a:srgbClr val="D4703A"/>
          </a:solidFill>
          <a:ln w="12700">
            <a:solidFill>
              <a:srgbClr val="D47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07568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Gasoline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" y="2295144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B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vehicles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642616"/>
            <a:ext cx="4069080" cy="484632"/>
          </a:xfrm>
          <a:prstGeom prst="rect">
            <a:avLst/>
          </a:prstGeom>
          <a:solidFill>
            <a:srgbClr val="200A02"/>
          </a:solidFill>
          <a:ln w="9525">
            <a:solidFill>
              <a:srgbClr val="D470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642616"/>
            <a:ext cx="54864" cy="484632"/>
          </a:xfrm>
          <a:prstGeom prst="rect">
            <a:avLst/>
          </a:prstGeom>
          <a:solidFill>
            <a:srgbClr val="D4703A"/>
          </a:solidFill>
          <a:ln w="12700">
            <a:solidFill>
              <a:srgbClr val="D47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267919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 Fuel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" y="2898648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B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— no electric alternative at scale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246120"/>
            <a:ext cx="4069080" cy="484632"/>
          </a:xfrm>
          <a:prstGeom prst="rect">
            <a:avLst/>
          </a:prstGeom>
          <a:solidFill>
            <a:srgbClr val="200A02"/>
          </a:solidFill>
          <a:ln w="9525">
            <a:solidFill>
              <a:srgbClr val="D470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246120"/>
            <a:ext cx="54864" cy="484632"/>
          </a:xfrm>
          <a:prstGeom prst="rect">
            <a:avLst/>
          </a:prstGeom>
          <a:solidFill>
            <a:srgbClr val="D4703A"/>
          </a:solidFill>
          <a:ln w="12700">
            <a:solidFill>
              <a:srgbClr val="D47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328269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Fuel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" y="3502152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B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(~90% of world trade by volume)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3849624"/>
            <a:ext cx="4069080" cy="484632"/>
          </a:xfrm>
          <a:prstGeom prst="rect">
            <a:avLst/>
          </a:prstGeom>
          <a:solidFill>
            <a:srgbClr val="200A02"/>
          </a:solidFill>
          <a:ln w="9525">
            <a:solidFill>
              <a:srgbClr val="D470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849624"/>
            <a:ext cx="54864" cy="484632"/>
          </a:xfrm>
          <a:prstGeom prst="rect">
            <a:avLst/>
          </a:prstGeom>
          <a:solidFill>
            <a:srgbClr val="D4703A"/>
          </a:solidFill>
          <a:ln w="12700">
            <a:solidFill>
              <a:srgbClr val="D470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388620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Oil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" y="4105656"/>
            <a:ext cx="3886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B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 &amp; industrial heat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18888" y="877824"/>
            <a:ext cx="4069080" cy="475488"/>
          </a:xfrm>
          <a:prstGeom prst="rect">
            <a:avLst/>
          </a:prstGeom>
          <a:solidFill>
            <a:srgbClr val="04141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87782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NON-COMBUSTION  ·  ~7–8%  ·  INELASTIC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18888" y="1435608"/>
            <a:ext cx="4069080" cy="420624"/>
          </a:xfrm>
          <a:prstGeom prst="rect">
            <a:avLst/>
          </a:prstGeom>
          <a:solidFill>
            <a:srgbClr val="041412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18888" y="1435608"/>
            <a:ext cx="54864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4630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Fertilizers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1673352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Haber-Bosch · feeds ~4bn people · Russia #1 exporter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18888" y="1965960"/>
            <a:ext cx="4069080" cy="420624"/>
          </a:xfrm>
          <a:prstGeom prst="rect">
            <a:avLst/>
          </a:prstGeom>
          <a:solidFill>
            <a:srgbClr val="041412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18888" y="1965960"/>
            <a:ext cx="54864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9933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2203704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mb/d equiv · medical, packaging, construction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18888" y="2496312"/>
            <a:ext cx="4069080" cy="420624"/>
          </a:xfrm>
          <a:prstGeom prst="rect">
            <a:avLst/>
          </a:prstGeom>
          <a:solidFill>
            <a:srgbClr val="041412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18888" y="2496312"/>
            <a:ext cx="54864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25237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2734056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derived from benzene, toluene, xylene (BTX)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18888" y="3026664"/>
            <a:ext cx="4069080" cy="420624"/>
          </a:xfrm>
          <a:prstGeom prst="rect">
            <a:avLst/>
          </a:prstGeom>
          <a:solidFill>
            <a:srgbClr val="041412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18888" y="3026664"/>
            <a:ext cx="54864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0540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Rubber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3264408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tyres incl. EVs — heavier EVs = more wear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18888" y="3557016"/>
            <a:ext cx="4069080" cy="420624"/>
          </a:xfrm>
          <a:prstGeom prst="rect">
            <a:avLst/>
          </a:prstGeom>
          <a:solidFill>
            <a:srgbClr val="041412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18888" y="3557016"/>
            <a:ext cx="54864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35844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Helium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37760" y="3794760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Semiconductors, MRI, quantum · ~25-30% from Qatar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18888" y="4087368"/>
            <a:ext cx="4069080" cy="420624"/>
          </a:xfrm>
          <a:prstGeom prst="rect">
            <a:avLst/>
          </a:prstGeom>
          <a:solidFill>
            <a:srgbClr val="041412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18888" y="4087368"/>
            <a:ext cx="54864" cy="42062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4114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Fibre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37760" y="4325112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C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turbines (70% by wt.), EV structures, aerospace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4663440"/>
            <a:ext cx="8412480" cy="338328"/>
          </a:xfrm>
          <a:prstGeom prst="rect">
            <a:avLst/>
          </a:prstGeom>
          <a:solidFill>
            <a:srgbClr val="162240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PARADOX: Electric vehicles eliminate gasoline demand — but require more synthetic rubber, carbon fibre, and petrochemicals per vehicle than the ICE cars they replace.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2026-03-11T11:26:36Z</dcterms:created>
  <dcterms:modified xsi:type="dcterms:W3CDTF">2026-03-11T11:26:36Z</dcterms:modified>
</cp:coreProperties>
</file>