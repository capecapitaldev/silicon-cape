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aynar" userId="61cb93daf5e3195c" providerId="LiveId" clId="{D5B74367-37DD-42A9-9368-EDF8106C3B17}"/>
    <pc:docChg chg="custSel modSld">
      <pc:chgData name="william raynar" userId="61cb93daf5e3195c" providerId="LiveId" clId="{D5B74367-37DD-42A9-9368-EDF8106C3B17}" dt="2026-03-11T13:28:19.931" v="63" actId="478"/>
      <pc:docMkLst>
        <pc:docMk/>
      </pc:docMkLst>
      <pc:sldChg chg="delSp modSp mod">
        <pc:chgData name="william raynar" userId="61cb93daf5e3195c" providerId="LiveId" clId="{D5B74367-37DD-42A9-9368-EDF8106C3B17}" dt="2026-03-11T13:28:13.084" v="61" actId="478"/>
        <pc:sldMkLst>
          <pc:docMk/>
          <pc:sldMk cId="0" sldId="256"/>
        </pc:sldMkLst>
        <pc:spChg chg="mod">
          <ac:chgData name="william raynar" userId="61cb93daf5e3195c" providerId="LiveId" clId="{D5B74367-37DD-42A9-9368-EDF8106C3B17}" dt="2026-03-11T13:28:07.156" v="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60" v="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65" v="2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66" v="3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67" v="4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69" v="5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70" v="6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74" v="7" actId="2057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75" v="8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78" v="9" actId="2057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79" v="10" actId="20577"/>
          <ac:spMkLst>
            <pc:docMk/>
            <pc:sldMk cId="0" sldId="256"/>
            <ac:spMk id="25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81" v="11" actId="20577"/>
          <ac:spMkLst>
            <pc:docMk/>
            <pc:sldMk cId="0" sldId="256"/>
            <ac:spMk id="29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84" v="12" actId="20577"/>
          <ac:spMkLst>
            <pc:docMk/>
            <pc:sldMk cId="0" sldId="256"/>
            <ac:spMk id="3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84" v="13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85" v="14" actId="20577"/>
          <ac:spMkLst>
            <pc:docMk/>
            <pc:sldMk cId="0" sldId="256"/>
            <ac:spMk id="35" creationId="{00000000-0000-0000-0000-000000000000}"/>
          </ac:spMkLst>
        </pc:spChg>
        <pc:picChg chg="del">
          <ac:chgData name="william raynar" userId="61cb93daf5e3195c" providerId="LiveId" clId="{D5B74367-37DD-42A9-9368-EDF8106C3B17}" dt="2026-03-11T13:28:13.084" v="61" actId="478"/>
          <ac:picMkLst>
            <pc:docMk/>
            <pc:sldMk cId="0" sldId="256"/>
            <ac:picMk id="3" creationId="{00000000-0000-0000-0000-000000000000}"/>
          </ac:picMkLst>
        </pc:picChg>
      </pc:sldChg>
      <pc:sldChg chg="delSp modSp mod">
        <pc:chgData name="william raynar" userId="61cb93daf5e3195c" providerId="LiveId" clId="{D5B74367-37DD-42A9-9368-EDF8106C3B17}" dt="2026-03-11T13:28:16.330" v="62" actId="478"/>
        <pc:sldMkLst>
          <pc:docMk/>
          <pc:sldMk cId="0" sldId="257"/>
        </pc:sldMkLst>
        <pc:spChg chg="mod">
          <ac:chgData name="william raynar" userId="61cb93daf5e3195c" providerId="LiveId" clId="{D5B74367-37DD-42A9-9368-EDF8106C3B17}" dt="2026-03-11T13:28:07.196" v="15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197" v="16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02" v="17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03" v="18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04" v="19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06" v="20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07" v="21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08" v="22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10" v="23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11" v="24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12" v="25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14" v="26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15" v="27" actId="20577"/>
          <ac:spMkLst>
            <pc:docMk/>
            <pc:sldMk cId="0" sldId="257"/>
            <ac:spMk id="27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15" v="28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17" v="29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19" v="30" actId="20577"/>
          <ac:spMkLst>
            <pc:docMk/>
            <pc:sldMk cId="0" sldId="257"/>
            <ac:spMk id="36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20" v="31" actId="20577"/>
          <ac:spMkLst>
            <pc:docMk/>
            <pc:sldMk cId="0" sldId="257"/>
            <ac:spMk id="37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21" v="32" actId="20577"/>
          <ac:spMkLst>
            <pc:docMk/>
            <pc:sldMk cId="0" sldId="257"/>
            <ac:spMk id="38" creationId="{00000000-0000-0000-0000-000000000000}"/>
          </ac:spMkLst>
        </pc:spChg>
        <pc:picChg chg="del">
          <ac:chgData name="william raynar" userId="61cb93daf5e3195c" providerId="LiveId" clId="{D5B74367-37DD-42A9-9368-EDF8106C3B17}" dt="2026-03-11T13:28:16.330" v="62" actId="478"/>
          <ac:picMkLst>
            <pc:docMk/>
            <pc:sldMk cId="0" sldId="257"/>
            <ac:picMk id="3" creationId="{00000000-0000-0000-0000-000000000000}"/>
          </ac:picMkLst>
        </pc:picChg>
      </pc:sldChg>
      <pc:sldChg chg="delSp modSp mod">
        <pc:chgData name="william raynar" userId="61cb93daf5e3195c" providerId="LiveId" clId="{D5B74367-37DD-42A9-9368-EDF8106C3B17}" dt="2026-03-11T13:28:19.931" v="63" actId="478"/>
        <pc:sldMkLst>
          <pc:docMk/>
          <pc:sldMk cId="0" sldId="258"/>
        </pc:sldMkLst>
        <pc:spChg chg="mod">
          <ac:chgData name="william raynar" userId="61cb93daf5e3195c" providerId="LiveId" clId="{D5B74367-37DD-42A9-9368-EDF8106C3B17}" dt="2026-03-11T13:28:07.229" v="33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30" v="34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34" v="35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35" v="36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36" v="37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37" v="38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38" v="39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39" v="40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40" v="41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41" v="42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43" v="43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44" v="44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45" v="45" actId="2057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46" v="46" actId="2057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48" v="47" actId="20577"/>
          <ac:spMkLst>
            <pc:docMk/>
            <pc:sldMk cId="0" sldId="258"/>
            <ac:spMk id="31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49" v="48" actId="20577"/>
          <ac:spMkLst>
            <pc:docMk/>
            <pc:sldMk cId="0" sldId="258"/>
            <ac:spMk id="3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50" v="49" actId="20577"/>
          <ac:spMkLst>
            <pc:docMk/>
            <pc:sldMk cId="0" sldId="258"/>
            <ac:spMk id="3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53" v="50" actId="20577"/>
          <ac:spMkLst>
            <pc:docMk/>
            <pc:sldMk cId="0" sldId="258"/>
            <ac:spMk id="37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53" v="51" actId="20577"/>
          <ac:spMkLst>
            <pc:docMk/>
            <pc:sldMk cId="0" sldId="258"/>
            <ac:spMk id="38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55" v="52" actId="20577"/>
          <ac:spMkLst>
            <pc:docMk/>
            <pc:sldMk cId="0" sldId="258"/>
            <ac:spMk id="41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56" v="53" actId="20577"/>
          <ac:spMkLst>
            <pc:docMk/>
            <pc:sldMk cId="0" sldId="258"/>
            <ac:spMk id="42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58" v="54" actId="20577"/>
          <ac:spMkLst>
            <pc:docMk/>
            <pc:sldMk cId="0" sldId="258"/>
            <ac:spMk id="45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59" v="55" actId="20577"/>
          <ac:spMkLst>
            <pc:docMk/>
            <pc:sldMk cId="0" sldId="258"/>
            <ac:spMk id="46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61" v="56" actId="20577"/>
          <ac:spMkLst>
            <pc:docMk/>
            <pc:sldMk cId="0" sldId="258"/>
            <ac:spMk id="49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62" v="57" actId="20577"/>
          <ac:spMkLst>
            <pc:docMk/>
            <pc:sldMk cId="0" sldId="258"/>
            <ac:spMk id="50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64" v="58" actId="20577"/>
          <ac:spMkLst>
            <pc:docMk/>
            <pc:sldMk cId="0" sldId="258"/>
            <ac:spMk id="53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64" v="59" actId="20577"/>
          <ac:spMkLst>
            <pc:docMk/>
            <pc:sldMk cId="0" sldId="258"/>
            <ac:spMk id="54" creationId="{00000000-0000-0000-0000-000000000000}"/>
          </ac:spMkLst>
        </pc:spChg>
        <pc:spChg chg="mod">
          <ac:chgData name="william raynar" userId="61cb93daf5e3195c" providerId="LiveId" clId="{D5B74367-37DD-42A9-9368-EDF8106C3B17}" dt="2026-03-11T13:28:07.266" v="60" actId="20577"/>
          <ac:spMkLst>
            <pc:docMk/>
            <pc:sldMk cId="0" sldId="258"/>
            <ac:spMk id="57" creationId="{00000000-0000-0000-0000-000000000000}"/>
          </ac:spMkLst>
        </pc:spChg>
        <pc:picChg chg="del">
          <ac:chgData name="william raynar" userId="61cb93daf5e3195c" providerId="LiveId" clId="{D5B74367-37DD-42A9-9368-EDF8106C3B17}" dt="2026-03-11T13:28:19.931" v="63" actId="478"/>
          <ac:picMkLst>
            <pc:docMk/>
            <pc:sldMk cId="0" sldId="258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689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109728"/>
            <a:ext cx="8906256" cy="1371600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29184" y="621792"/>
            <a:ext cx="420624" cy="22860"/>
          </a:xfrm>
          <a:prstGeom prst="rect">
            <a:avLst/>
          </a:prstGeom>
          <a:solidFill>
            <a:srgbClr val="831011"/>
          </a:solidFill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29184" y="6675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2D2D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The Value Chain — by Revenue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29184" y="11887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= estimated annual segment revenue (USD bn)  ·  Oilfield Services supports Upstream — not a sequential step in the chain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47888" y="4919472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83210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556508" y="2651760"/>
            <a:ext cx="772424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10036" y="2155956"/>
            <a:ext cx="991608" cy="991608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10036" y="2587752"/>
            <a:ext cx="991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$1500bn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8600" y="32390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E&amp;P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8600" y="36230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&amp; Production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011164" y="2651760"/>
            <a:ext cx="906144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2383796" y="2365508"/>
            <a:ext cx="572505" cy="572505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2383796" y="2600554"/>
            <a:ext cx="57250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$500bn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892808" y="30294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Midstream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892808" y="34135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Storage &amp; LNG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51204" y="2651760"/>
            <a:ext cx="552316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972172" y="2289676"/>
            <a:ext cx="724168" cy="724168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972172" y="2600554"/>
            <a:ext cx="724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$800bn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557016" y="31052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57016" y="34893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Traders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693408" y="2651760"/>
            <a:ext cx="588022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5358384" y="2011680"/>
            <a:ext cx="1280160" cy="1280160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358384" y="2568550"/>
            <a:ext cx="12801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$2500bn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221224" y="3383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221224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Processing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336294" y="2325382"/>
            <a:ext cx="652756" cy="652756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7336294" y="2600554"/>
            <a:ext cx="6527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$650bn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85432" y="306957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885432" y="345362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Chemicals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005840" y="3202428"/>
            <a:ext cx="0" cy="983772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766344" y="4241064"/>
            <a:ext cx="478992" cy="478992"/>
          </a:xfrm>
          <a:prstGeom prst="ellipse">
            <a:avLst/>
          </a:prstGeom>
          <a:solidFill>
            <a:srgbClr val="831011">
              <a:alpha val="45000"/>
            </a:srgbClr>
          </a:solidFill>
          <a:ln w="12700">
            <a:solidFill>
              <a:srgbClr val="831011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1005840" y="4076472"/>
            <a:ext cx="0" cy="128016"/>
          </a:xfrm>
          <a:prstGeom prst="line">
            <a:avLst/>
          </a:prstGeom>
          <a:noFill/>
          <a:ln w="9525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548640" y="3893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$350bn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373352" y="4334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Oilfield Services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373352" y="4608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Drilling &amp; Well Services  ·  support function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29184" y="4956048"/>
            <a:ext cx="848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 generates the most revenue — but the thinnest margins. The next slide shows where value actually accumulates.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109728"/>
            <a:ext cx="8906256" cy="1371600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29184" y="621792"/>
            <a:ext cx="420624" cy="22860"/>
          </a:xfrm>
          <a:prstGeom prst="rect">
            <a:avLst/>
          </a:prstGeom>
          <a:solidFill>
            <a:srgbClr val="831011"/>
          </a:solidFill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29184" y="6675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2D2D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The Value Chain — Profit Pool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29184" y="11887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= estimated annual profit pool (USD bn)  ·  Upstream E&amp;P captures the dominant share of industry value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47888" y="4919472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83210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700784" y="2651760"/>
            <a:ext cx="733358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65760" y="2011680"/>
            <a:ext cx="1280160" cy="1280160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65760" y="2568550"/>
            <a:ext cx="12801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$500bn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28600" y="3383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E&amp;P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8600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&amp; Production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905954" y="2651760"/>
            <a:ext cx="1262573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2489006" y="2470718"/>
            <a:ext cx="362084" cy="362084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670048" y="2287838"/>
            <a:ext cx="0" cy="146304"/>
          </a:xfrm>
          <a:prstGeom prst="line">
            <a:avLst/>
          </a:prstGeom>
          <a:noFill/>
          <a:ln w="9525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167128" y="210495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$40bn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892808" y="292424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Midstream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892808" y="330829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Storage &amp; LNG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499985" y="2651760"/>
            <a:ext cx="1241204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4223391" y="2540895"/>
            <a:ext cx="221730" cy="221730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4334256" y="2358015"/>
            <a:ext cx="0" cy="146304"/>
          </a:xfrm>
          <a:prstGeom prst="line">
            <a:avLst/>
          </a:prstGeom>
          <a:noFill/>
          <a:ln w="9525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831336" y="2175135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$15bn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557016" y="2854065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557016" y="3238113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Traders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55739" y="2651760"/>
            <a:ext cx="1130339" cy="0"/>
          </a:xfrm>
          <a:prstGeom prst="line">
            <a:avLst/>
          </a:prstGeom>
          <a:noFill/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5796053" y="2449349"/>
            <a:ext cx="404822" cy="404822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5998464" y="2266469"/>
            <a:ext cx="0" cy="146304"/>
          </a:xfrm>
          <a:prstGeom prst="line">
            <a:avLst/>
          </a:prstGeom>
          <a:noFill/>
          <a:ln w="9525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5495544" y="208358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221224" y="2945611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221224" y="3329659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Processing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440942" y="2430030"/>
            <a:ext cx="443460" cy="443460"/>
          </a:xfrm>
          <a:prstGeom prst="ellipse">
            <a:avLst/>
          </a:prstGeom>
          <a:solidFill>
            <a:srgbClr val="831011">
              <a:alpha val="80000"/>
            </a:srgbClr>
          </a:solidFill>
          <a:ln w="1905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7440942" y="2600554"/>
            <a:ext cx="4434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$60bn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885432" y="296493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85432" y="334897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Chemicals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005840" y="3346704"/>
            <a:ext cx="0" cy="986213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849053" y="4387781"/>
            <a:ext cx="313574" cy="313574"/>
          </a:xfrm>
          <a:prstGeom prst="ellipse">
            <a:avLst/>
          </a:prstGeom>
          <a:solidFill>
            <a:srgbClr val="831011">
              <a:alpha val="45000"/>
            </a:srgbClr>
          </a:solidFill>
          <a:ln w="12700">
            <a:solidFill>
              <a:srgbClr val="831011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1005840" y="4223189"/>
            <a:ext cx="0" cy="128016"/>
          </a:xfrm>
          <a:prstGeom prst="line">
            <a:avLst/>
          </a:prstGeom>
          <a:noFill/>
          <a:ln w="9525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548640" y="4040309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$30bn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90643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Oilfield Services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290643" y="4672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Drilling &amp; Well Services  ·  support function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29184" y="4956048"/>
            <a:ext cx="848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31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E&amp;P dominates the profit pool. Refining's revenue leadership disappears on a profit basis — crack spreads are cyclical and structurally thin.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109728"/>
            <a:ext cx="8906256" cy="1371600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29184" y="621792"/>
            <a:ext cx="420624" cy="22860"/>
          </a:xfrm>
          <a:prstGeom prst="rect">
            <a:avLst/>
          </a:prstGeom>
          <a:solidFill>
            <a:srgbClr val="831011"/>
          </a:solidFill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29184" y="6675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2D2D"/>
                </a:solidFill>
                <a:latin typeface="PP Eiko Light" pitchFamily="34" charset="0"/>
                <a:ea typeface="PP Eiko Light" pitchFamily="34" charset="-122"/>
                <a:cs typeface="PP Eiko Light" pitchFamily="34" charset="-120"/>
              </a:rPr>
              <a:t>What a barrel of oil actually becomes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29184" y="11887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energy transition targets combustion. Non-combustion demand is structurally inelastic — and growing.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47888" y="4919472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0" y="1463040"/>
            <a:ext cx="0" cy="333756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01752" y="1463040"/>
            <a:ext cx="3977640" cy="457200"/>
          </a:xfrm>
          <a:prstGeom prst="rect">
            <a:avLst/>
          </a:prstGeom>
          <a:solidFill>
            <a:srgbClr val="831011"/>
          </a:solidFill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11480" y="1463040"/>
            <a:ext cx="3849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COMBUSTION  ·  ~92–93%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01752" y="1920240"/>
            <a:ext cx="3977640" cy="475488"/>
          </a:xfrm>
          <a:prstGeom prst="rect">
            <a:avLst/>
          </a:prstGeom>
          <a:solidFill>
            <a:srgbClr val="FDF5F5"/>
          </a:solidFill>
          <a:ln w="6350">
            <a:solidFill>
              <a:srgbClr val="E8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301752" y="1920240"/>
            <a:ext cx="45720" cy="475488"/>
          </a:xfrm>
          <a:prstGeom prst="rect">
            <a:avLst/>
          </a:prstGeom>
          <a:solidFill>
            <a:srgbClr val="831011"/>
          </a:solidFill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11480" y="1956816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2167128"/>
            <a:ext cx="3813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transport, rail, heating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1752" y="2496312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301752" y="2496312"/>
            <a:ext cx="45720" cy="475488"/>
          </a:xfrm>
          <a:prstGeom prst="rect">
            <a:avLst/>
          </a:prstGeom>
          <a:solidFill>
            <a:srgbClr val="831011"/>
          </a:solidFill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11480" y="2532888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Gasoline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2743200"/>
            <a:ext cx="3813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vehicles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01752" y="3072384"/>
            <a:ext cx="3977640" cy="475488"/>
          </a:xfrm>
          <a:prstGeom prst="rect">
            <a:avLst/>
          </a:prstGeom>
          <a:solidFill>
            <a:srgbClr val="FDF5F5"/>
          </a:solidFill>
          <a:ln w="6350">
            <a:solidFill>
              <a:srgbClr val="E8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01752" y="3072384"/>
            <a:ext cx="45720" cy="475488"/>
          </a:xfrm>
          <a:prstGeom prst="rect">
            <a:avLst/>
          </a:prstGeom>
          <a:solidFill>
            <a:srgbClr val="831011"/>
          </a:solidFill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11480" y="3108960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 Fuel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11480" y="3319272"/>
            <a:ext cx="3813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— no electric alternative at scale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01752" y="3648456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301752" y="3648456"/>
            <a:ext cx="45720" cy="475488"/>
          </a:xfrm>
          <a:prstGeom prst="rect">
            <a:avLst/>
          </a:prstGeom>
          <a:solidFill>
            <a:srgbClr val="831011"/>
          </a:solidFill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411480" y="368503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Bunker Fuel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11480" y="3895344"/>
            <a:ext cx="3813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(~90% of world trade by volume)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01752" y="4224528"/>
            <a:ext cx="3977640" cy="475488"/>
          </a:xfrm>
          <a:prstGeom prst="rect">
            <a:avLst/>
          </a:prstGeom>
          <a:solidFill>
            <a:srgbClr val="FDF5F5"/>
          </a:solidFill>
          <a:ln w="6350">
            <a:solidFill>
              <a:srgbClr val="E8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301752" y="4224528"/>
            <a:ext cx="45720" cy="475488"/>
          </a:xfrm>
          <a:prstGeom prst="rect">
            <a:avLst/>
          </a:prstGeom>
          <a:solidFill>
            <a:srgbClr val="831011"/>
          </a:solidFill>
          <a:ln w="12700">
            <a:solidFill>
              <a:srgbClr val="8310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11480" y="4261104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Oil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11480" y="4471416"/>
            <a:ext cx="3813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 &amp; industrial heat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64608" y="1463040"/>
            <a:ext cx="3977640" cy="457200"/>
          </a:xfrm>
          <a:prstGeom prst="rect">
            <a:avLst/>
          </a:prstGeom>
          <a:solidFill>
            <a:srgbClr val="044049"/>
          </a:solidFill>
          <a:ln w="12700">
            <a:solidFill>
              <a:srgbClr val="0440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4974336" y="1463040"/>
            <a:ext cx="3849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NON-COMBUSTION  ·  ~7–8%  ·  INELASTIC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864608" y="1920240"/>
            <a:ext cx="3977640" cy="402336"/>
          </a:xfrm>
          <a:prstGeom prst="rect">
            <a:avLst/>
          </a:prstGeom>
          <a:solidFill>
            <a:srgbClr val="F0F7F7"/>
          </a:solidFill>
          <a:ln w="635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4864608" y="1920240"/>
            <a:ext cx="45720" cy="402336"/>
          </a:xfrm>
          <a:prstGeom prst="rect">
            <a:avLst/>
          </a:prstGeom>
          <a:solidFill>
            <a:srgbClr val="044049"/>
          </a:solidFill>
          <a:ln w="12700">
            <a:solidFill>
              <a:srgbClr val="0440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4974336" y="1947672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Fertilizers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974336" y="2139696"/>
            <a:ext cx="3813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Haber-Bosch · feeds ~4bn people · Russia #1 exporter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864608" y="2414016"/>
            <a:ext cx="3977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4864608" y="2414016"/>
            <a:ext cx="45720" cy="402336"/>
          </a:xfrm>
          <a:prstGeom prst="rect">
            <a:avLst/>
          </a:prstGeom>
          <a:solidFill>
            <a:srgbClr val="044049"/>
          </a:solidFill>
          <a:ln w="12700">
            <a:solidFill>
              <a:srgbClr val="0440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4974336" y="2441448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974336" y="2633472"/>
            <a:ext cx="3813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mb/d equiv · medical, packaging, construction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864608" y="2907792"/>
            <a:ext cx="3977640" cy="402336"/>
          </a:xfrm>
          <a:prstGeom prst="rect">
            <a:avLst/>
          </a:prstGeom>
          <a:solidFill>
            <a:srgbClr val="F0F7F7"/>
          </a:solidFill>
          <a:ln w="635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4864608" y="2907792"/>
            <a:ext cx="45720" cy="402336"/>
          </a:xfrm>
          <a:prstGeom prst="rect">
            <a:avLst/>
          </a:prstGeom>
          <a:solidFill>
            <a:srgbClr val="044049"/>
          </a:solidFill>
          <a:ln w="12700">
            <a:solidFill>
              <a:srgbClr val="0440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4974336" y="2935224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974336" y="3127248"/>
            <a:ext cx="3813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derived from benzene, toluene, xylene (BTX)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64608" y="3401568"/>
            <a:ext cx="3977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4864608" y="3401568"/>
            <a:ext cx="45720" cy="402336"/>
          </a:xfrm>
          <a:prstGeom prst="rect">
            <a:avLst/>
          </a:prstGeom>
          <a:solidFill>
            <a:srgbClr val="044049"/>
          </a:solidFill>
          <a:ln w="12700">
            <a:solidFill>
              <a:srgbClr val="0440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4974336" y="3429000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Rubber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974336" y="3621024"/>
            <a:ext cx="3813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tyres incl. EVs — heavier EVs = more wear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864608" y="3895344"/>
            <a:ext cx="3977640" cy="402336"/>
          </a:xfrm>
          <a:prstGeom prst="rect">
            <a:avLst/>
          </a:prstGeom>
          <a:solidFill>
            <a:srgbClr val="F0F7F7"/>
          </a:solidFill>
          <a:ln w="635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4864608" y="3895344"/>
            <a:ext cx="45720" cy="402336"/>
          </a:xfrm>
          <a:prstGeom prst="rect">
            <a:avLst/>
          </a:prstGeom>
          <a:solidFill>
            <a:srgbClr val="044049"/>
          </a:solidFill>
          <a:ln w="12700">
            <a:solidFill>
              <a:srgbClr val="0440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4974336" y="3922776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Helium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4974336" y="4114800"/>
            <a:ext cx="3813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Semiconductors, MRI, quantum · ~25–30% from Qatar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864608" y="4389120"/>
            <a:ext cx="3977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4864608" y="4389120"/>
            <a:ext cx="45720" cy="402336"/>
          </a:xfrm>
          <a:prstGeom prst="rect">
            <a:avLst/>
          </a:prstGeom>
          <a:solidFill>
            <a:srgbClr val="044049"/>
          </a:solidFill>
          <a:ln w="12700">
            <a:solidFill>
              <a:srgbClr val="0440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2"/>
          <p:cNvSpPr/>
          <p:nvPr/>
        </p:nvSpPr>
        <p:spPr>
          <a:xfrm>
            <a:off x="4974336" y="4416552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Fibre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4974336" y="4608576"/>
            <a:ext cx="3813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turbines (70% by wt.), EV structures, aerospace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4315968" y="2368296"/>
            <a:ext cx="512064" cy="566928"/>
          </a:xfrm>
          <a:prstGeom prst="ellipse">
            <a:avLst/>
          </a:prstGeom>
          <a:solidFill>
            <a:srgbClr val="83101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4315968" y="246888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329184" y="4800600"/>
            <a:ext cx="8485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paradox: EVs eliminate gasoline demand — but require more synthetic rubber, carbon fibre, and petrochemicals per vehicle than the ICE cars they replace.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Office PowerPoint</Application>
  <PresentationFormat>On-screen Show (16:9)</PresentationFormat>
  <Paragraphs>78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PP Eiko Light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William Raynar</cp:lastModifiedBy>
  <cp:revision>1</cp:revision>
  <dcterms:created xsi:type="dcterms:W3CDTF">2026-03-11T13:06:59Z</dcterms:created>
  <dcterms:modified xsi:type="dcterms:W3CDTF">2026-03-11T13:28:21Z</dcterms:modified>
</cp:coreProperties>
</file>