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132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 raynar" userId="61cb93daf5e3195c" providerId="LiveId" clId="{D5B74367-37DD-42A9-9368-EDF8106C3B17}"/>
    <pc:docChg chg="custSel modSld">
      <pc:chgData name="william raynar" userId="61cb93daf5e3195c" providerId="LiveId" clId="{D5B74367-37DD-42A9-9368-EDF8106C3B17}" dt="2026-03-11T14:42:26.808" v="50" actId="20577"/>
      <pc:docMkLst>
        <pc:docMk/>
      </pc:docMkLst>
      <pc:sldChg chg="modSp mod">
        <pc:chgData name="william raynar" userId="61cb93daf5e3195c" providerId="LiveId" clId="{D5B74367-37DD-42A9-9368-EDF8106C3B17}" dt="2026-03-11T14:42:26.524" v="2" actId="20577"/>
        <pc:sldMkLst>
          <pc:docMk/>
          <pc:sldMk cId="0" sldId="256"/>
        </pc:sldMkLst>
        <pc:spChg chg="mod">
          <ac:chgData name="william raynar" userId="61cb93daf5e3195c" providerId="LiveId" clId="{D5B74367-37DD-42A9-9368-EDF8106C3B17}" dt="2026-03-11T14:42:26.517" v="0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4:42:26.520" v="1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4:42:26.524" v="2" actId="20577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william raynar" userId="61cb93daf5e3195c" providerId="LiveId" clId="{D5B74367-37DD-42A9-9368-EDF8106C3B17}" dt="2026-03-11T14:42:26.587" v="9" actId="20577"/>
        <pc:sldMkLst>
          <pc:docMk/>
          <pc:sldMk cId="0" sldId="257"/>
        </pc:sldMkLst>
        <pc:spChg chg="mod">
          <ac:chgData name="william raynar" userId="61cb93daf5e3195c" providerId="LiveId" clId="{D5B74367-37DD-42A9-9368-EDF8106C3B17}" dt="2026-03-11T14:42:26.536" v="3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4:42:26.537" v="4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4:42:26.555" v="5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4:42:26.566" v="6" actId="20577"/>
          <ac:spMkLst>
            <pc:docMk/>
            <pc:sldMk cId="0" sldId="257"/>
            <ac:spMk id="11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4:42:26.576" v="7" actId="20577"/>
          <ac:spMkLst>
            <pc:docMk/>
            <pc:sldMk cId="0" sldId="257"/>
            <ac:spMk id="14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4:42:26.586" v="8" actId="20577"/>
          <ac:spMkLst>
            <pc:docMk/>
            <pc:sldMk cId="0" sldId="257"/>
            <ac:spMk id="17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4:42:26.587" v="9" actId="20577"/>
          <ac:spMkLst>
            <pc:docMk/>
            <pc:sldMk cId="0" sldId="257"/>
            <ac:spMk id="18" creationId="{00000000-0000-0000-0000-000000000000}"/>
          </ac:spMkLst>
        </pc:spChg>
      </pc:sldChg>
      <pc:sldChg chg="modSp mod">
        <pc:chgData name="william raynar" userId="61cb93daf5e3195c" providerId="LiveId" clId="{D5B74367-37DD-42A9-9368-EDF8106C3B17}" dt="2026-03-11T14:42:26.672" v="17" actId="20577"/>
        <pc:sldMkLst>
          <pc:docMk/>
          <pc:sldMk cId="0" sldId="258"/>
        </pc:sldMkLst>
        <pc:spChg chg="mod">
          <ac:chgData name="william raynar" userId="61cb93daf5e3195c" providerId="LiveId" clId="{D5B74367-37DD-42A9-9368-EDF8106C3B17}" dt="2026-03-11T14:42:26.602" v="10" actId="20577"/>
          <ac:spMkLst>
            <pc:docMk/>
            <pc:sldMk cId="0" sldId="258"/>
            <ac:spMk id="2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4:42:26.603" v="11" actId="20577"/>
          <ac:spMkLst>
            <pc:docMk/>
            <pc:sldMk cId="0" sldId="258"/>
            <ac:spMk id="3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4:42:26.611" v="12" actId="20577"/>
          <ac:spMkLst>
            <pc:docMk/>
            <pc:sldMk cId="0" sldId="258"/>
            <ac:spMk id="6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4:42:26.613" v="13" actId="20577"/>
          <ac:spMkLst>
            <pc:docMk/>
            <pc:sldMk cId="0" sldId="258"/>
            <ac:spMk id="7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4:42:26.638" v="14" actId="20577"/>
          <ac:spMkLst>
            <pc:docMk/>
            <pc:sldMk cId="0" sldId="258"/>
            <ac:spMk id="11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4:42:26.640" v="15" actId="20577"/>
          <ac:spMkLst>
            <pc:docMk/>
            <pc:sldMk cId="0" sldId="258"/>
            <ac:spMk id="12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4:42:26.671" v="16" actId="20577"/>
          <ac:spMkLst>
            <pc:docMk/>
            <pc:sldMk cId="0" sldId="258"/>
            <ac:spMk id="16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4:42:26.672" v="17" actId="20577"/>
          <ac:spMkLst>
            <pc:docMk/>
            <pc:sldMk cId="0" sldId="258"/>
            <ac:spMk id="17" creationId="{00000000-0000-0000-0000-000000000000}"/>
          </ac:spMkLst>
        </pc:spChg>
      </pc:sldChg>
      <pc:sldChg chg="modSp mod">
        <pc:chgData name="william raynar" userId="61cb93daf5e3195c" providerId="LiveId" clId="{D5B74367-37DD-42A9-9368-EDF8106C3B17}" dt="2026-03-11T14:42:26.752" v="32" actId="20577"/>
        <pc:sldMkLst>
          <pc:docMk/>
          <pc:sldMk cId="0" sldId="259"/>
        </pc:sldMkLst>
        <pc:spChg chg="mod">
          <ac:chgData name="william raynar" userId="61cb93daf5e3195c" providerId="LiveId" clId="{D5B74367-37DD-42A9-9368-EDF8106C3B17}" dt="2026-03-11T14:42:26.715" v="18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4:42:26.716" v="19" actId="20577"/>
          <ac:spMkLst>
            <pc:docMk/>
            <pc:sldMk cId="0" sldId="259"/>
            <ac:spMk id="3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4:42:26.725" v="20" actId="20577"/>
          <ac:spMkLst>
            <pc:docMk/>
            <pc:sldMk cId="0" sldId="259"/>
            <ac:spMk id="6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4:42:26.726" v="21" actId="20577"/>
          <ac:spMkLst>
            <pc:docMk/>
            <pc:sldMk cId="0" sldId="259"/>
            <ac:spMk id="7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4:42:26.727" v="22" actId="20577"/>
          <ac:spMkLst>
            <pc:docMk/>
            <pc:sldMk cId="0" sldId="259"/>
            <ac:spMk id="8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4:42:26.731" v="23" actId="20577"/>
          <ac:spMkLst>
            <pc:docMk/>
            <pc:sldMk cId="0" sldId="259"/>
            <ac:spMk id="12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4:42:26.733" v="24" actId="20577"/>
          <ac:spMkLst>
            <pc:docMk/>
            <pc:sldMk cId="0" sldId="259"/>
            <ac:spMk id="13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4:42:26.736" v="25" actId="20577"/>
          <ac:spMkLst>
            <pc:docMk/>
            <pc:sldMk cId="0" sldId="259"/>
            <ac:spMk id="17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4:42:26.738" v="26" actId="20577"/>
          <ac:spMkLst>
            <pc:docMk/>
            <pc:sldMk cId="0" sldId="259"/>
            <ac:spMk id="18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4:42:26.741" v="27" actId="20577"/>
          <ac:spMkLst>
            <pc:docMk/>
            <pc:sldMk cId="0" sldId="259"/>
            <ac:spMk id="22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4:42:26.742" v="28" actId="20577"/>
          <ac:spMkLst>
            <pc:docMk/>
            <pc:sldMk cId="0" sldId="259"/>
            <ac:spMk id="23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4:42:26.746" v="29" actId="20577"/>
          <ac:spMkLst>
            <pc:docMk/>
            <pc:sldMk cId="0" sldId="259"/>
            <ac:spMk id="27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4:42:26.749" v="30" actId="20577"/>
          <ac:spMkLst>
            <pc:docMk/>
            <pc:sldMk cId="0" sldId="259"/>
            <ac:spMk id="31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4:42:26.751" v="31" actId="20577"/>
          <ac:spMkLst>
            <pc:docMk/>
            <pc:sldMk cId="0" sldId="259"/>
            <ac:spMk id="32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4:42:26.752" v="32" actId="20577"/>
          <ac:spMkLst>
            <pc:docMk/>
            <pc:sldMk cId="0" sldId="259"/>
            <ac:spMk id="33" creationId="{00000000-0000-0000-0000-000000000000}"/>
          </ac:spMkLst>
        </pc:spChg>
      </pc:sldChg>
      <pc:sldChg chg="modSp mod">
        <pc:chgData name="william raynar" userId="61cb93daf5e3195c" providerId="LiveId" clId="{D5B74367-37DD-42A9-9368-EDF8106C3B17}" dt="2026-03-11T14:42:26.808" v="50" actId="20577"/>
        <pc:sldMkLst>
          <pc:docMk/>
          <pc:sldMk cId="0" sldId="260"/>
        </pc:sldMkLst>
        <pc:spChg chg="mod">
          <ac:chgData name="william raynar" userId="61cb93daf5e3195c" providerId="LiveId" clId="{D5B74367-37DD-42A9-9368-EDF8106C3B17}" dt="2026-03-11T14:42:26.765" v="33" actId="20577"/>
          <ac:spMkLst>
            <pc:docMk/>
            <pc:sldMk cId="0" sldId="260"/>
            <ac:spMk id="2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4:42:26.767" v="34" actId="20577"/>
          <ac:spMkLst>
            <pc:docMk/>
            <pc:sldMk cId="0" sldId="260"/>
            <ac:spMk id="3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4:42:26.774" v="35" actId="20577"/>
          <ac:spMkLst>
            <pc:docMk/>
            <pc:sldMk cId="0" sldId="260"/>
            <ac:spMk id="6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4:42:26.776" v="36" actId="20577"/>
          <ac:spMkLst>
            <pc:docMk/>
            <pc:sldMk cId="0" sldId="260"/>
            <ac:spMk id="7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4:42:26.777" v="37" actId="20577"/>
          <ac:spMkLst>
            <pc:docMk/>
            <pc:sldMk cId="0" sldId="260"/>
            <ac:spMk id="8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4:42:26.781" v="38" actId="20577"/>
          <ac:spMkLst>
            <pc:docMk/>
            <pc:sldMk cId="0" sldId="260"/>
            <ac:spMk id="12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4:42:26.783" v="39" actId="20577"/>
          <ac:spMkLst>
            <pc:docMk/>
            <pc:sldMk cId="0" sldId="260"/>
            <ac:spMk id="13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4:42:26.784" v="40" actId="20577"/>
          <ac:spMkLst>
            <pc:docMk/>
            <pc:sldMk cId="0" sldId="260"/>
            <ac:spMk id="14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4:42:26.788" v="41" actId="20577"/>
          <ac:spMkLst>
            <pc:docMk/>
            <pc:sldMk cId="0" sldId="260"/>
            <ac:spMk id="18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4:42:26.791" v="42" actId="20577"/>
          <ac:spMkLst>
            <pc:docMk/>
            <pc:sldMk cId="0" sldId="260"/>
            <ac:spMk id="19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4:42:26.792" v="43" actId="20577"/>
          <ac:spMkLst>
            <pc:docMk/>
            <pc:sldMk cId="0" sldId="260"/>
            <ac:spMk id="20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4:42:26.795" v="44" actId="20577"/>
          <ac:spMkLst>
            <pc:docMk/>
            <pc:sldMk cId="0" sldId="260"/>
            <ac:spMk id="24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4:42:26.797" v="45" actId="20577"/>
          <ac:spMkLst>
            <pc:docMk/>
            <pc:sldMk cId="0" sldId="260"/>
            <ac:spMk id="25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4:42:26.798" v="46" actId="20577"/>
          <ac:spMkLst>
            <pc:docMk/>
            <pc:sldMk cId="0" sldId="260"/>
            <ac:spMk id="26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4:42:26.801" v="47" actId="20577"/>
          <ac:spMkLst>
            <pc:docMk/>
            <pc:sldMk cId="0" sldId="260"/>
            <ac:spMk id="30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4:42:26.805" v="48" actId="20577"/>
          <ac:spMkLst>
            <pc:docMk/>
            <pc:sldMk cId="0" sldId="260"/>
            <ac:spMk id="34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4:42:26.806" v="49" actId="20577"/>
          <ac:spMkLst>
            <pc:docMk/>
            <pc:sldMk cId="0" sldId="260"/>
            <ac:spMk id="35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4:42:26.808" v="50" actId="20577"/>
          <ac:spMkLst>
            <pc:docMk/>
            <pc:sldMk cId="0" sldId="260"/>
            <ac:spMk id="3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079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5329"/>
          </a:xfrm>
          <a:prstGeom prst="rect">
            <a:avLst/>
          </a:prstGeom>
          <a:solidFill>
            <a:srgbClr val="8310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822960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4800" dirty="0">
                <a:solidFill>
                  <a:srgbClr val="FFFFFF"/>
                </a:solidFill>
                <a:latin typeface="PP Eiko Light" pitchFamily="34" charset="0"/>
                <a:ea typeface="PP Eiko Light" pitchFamily="34" charset="-122"/>
                <a:cs typeface="PP Eiko Light" pitchFamily="34" charset="-120"/>
              </a:rPr>
              <a:t>Oil &amp; Gas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Permanent Demand, Contested Supply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108960"/>
            <a:ext cx="822960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thematic research note examining demand durability, supply concentration, and the investable value chain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77316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 Capital Research  ·  March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0" y="4773168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7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· FOR 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872" y="109728"/>
            <a:ext cx="8906256" cy="1371600"/>
          </a:xfrm>
          <a:prstGeom prst="rect">
            <a:avLst/>
          </a:prstGeom>
          <a:solidFill>
            <a:srgbClr val="EEF0F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329184" y="621792"/>
            <a:ext cx="420624" cy="22860"/>
          </a:xfrm>
          <a:prstGeom prst="rect">
            <a:avLst/>
          </a:prstGeom>
          <a:solidFill>
            <a:srgbClr val="8310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9184" y="66751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2D2D2D"/>
                </a:solidFill>
                <a:latin typeface="PP Eiko Light" pitchFamily="34" charset="0"/>
                <a:ea typeface="PP Eiko Light" pitchFamily="34" charset="-122"/>
                <a:cs typeface="PP Eiko Light" pitchFamily="34" charset="-120"/>
              </a:rPr>
              <a:t>Why Now — The Supply Overhang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9184" y="118872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IEA projects ~4 mb/d of oversupply in 2026 as OPEC+ unwinds · Brent near fiscal breakevens · Consensus is still too optimistic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9184" y="157276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Glut building in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9184" y="177393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OPEC+ begins unwinding 2.2 mb/d of voluntary cuts while non-OPEC (US, Brazil, Guyana) adds ~1.5 mb/d net. IEA base case: ~4 mb/d of oversupply in 2026 — the largest surplus since Covid.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9184" y="1572768"/>
            <a:ext cx="36576" cy="201168"/>
          </a:xfrm>
          <a:prstGeom prst="rect">
            <a:avLst/>
          </a:prstGeom>
          <a:solidFill>
            <a:srgbClr val="8310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29184" y="224942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Prices at fiscal stress levels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" y="245059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Brent ~$70–75/bbl sits at or below fiscal breakeven for Algeria, Nigeria, Iraq, and Russia. No meaningful demand or supply miss is priced in. Options market implies low vol — historically a signal, not a comfort.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9184" y="2249424"/>
            <a:ext cx="36576" cy="201168"/>
          </a:xfrm>
          <a:prstGeom prst="rect">
            <a:avLst/>
          </a:prstGeom>
          <a:solidFill>
            <a:srgbClr val="8310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29184" y="292608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IEA vs OPEC: a 40% forecast gap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" y="312724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IEA 2025 demand growth: 1.0 mb/d. OPEC: 1.4 mb/d. The divergence — now persistent for 18 months — reflects genuine uncertainty about China's post-EV transition demand trajectory.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9184" y="2926080"/>
            <a:ext cx="36576" cy="201168"/>
          </a:xfrm>
          <a:prstGeom prst="rect">
            <a:avLst/>
          </a:prstGeom>
          <a:solidFill>
            <a:srgbClr val="8310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329184" y="360273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is the swing variable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" y="380390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contributed ~50% of global demand growth this decade. EV penetration now exceeds 40% of new car sales in China. Gasoline demand is structurally turning — earlier and faster than Western models assumed.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9184" y="3602736"/>
            <a:ext cx="36576" cy="201168"/>
          </a:xfrm>
          <a:prstGeom prst="rect">
            <a:avLst/>
          </a:prstGeom>
          <a:solidFill>
            <a:srgbClr val="8310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4663440" y="1572768"/>
            <a:ext cx="4206240" cy="2926080"/>
          </a:xfrm>
          <a:prstGeom prst="rect">
            <a:avLst/>
          </a:prstGeom>
          <a:solidFill>
            <a:srgbClr val="F0F2F5"/>
          </a:solidFill>
          <a:ln w="12700">
            <a:solidFill>
              <a:srgbClr val="D8DC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754880" y="28072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VISUAL: IEA Global Oil Supply/Demand Balance 2024–2026 ]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0" y="427024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IEA · Oil Market Report · November 2025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29184" y="4828032"/>
            <a:ext cx="8485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mb/d = million barrels per day. Oversupply estimates based on IEA central scenario; OPEC compliance and non-OPEC ramp-up remain key uncertainties.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872" y="109728"/>
            <a:ext cx="8906256" cy="1371600"/>
          </a:xfrm>
          <a:prstGeom prst="rect">
            <a:avLst/>
          </a:prstGeom>
          <a:solidFill>
            <a:srgbClr val="EEF0F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329184" y="621792"/>
            <a:ext cx="420624" cy="22860"/>
          </a:xfrm>
          <a:prstGeom prst="rect">
            <a:avLst/>
          </a:prstGeom>
          <a:solidFill>
            <a:srgbClr val="8310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9184" y="66751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2D2D2D"/>
                </a:solidFill>
                <a:latin typeface="PP Eiko Light" pitchFamily="34" charset="0"/>
                <a:ea typeface="PP Eiko Light" pitchFamily="34" charset="-122"/>
                <a:cs typeface="PP Eiko Light" pitchFamily="34" charset="-120"/>
              </a:rPr>
              <a:t>Three Structural Truths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9184" y="118872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energy transition is real — but oil's role this decade is being systematically misread by both bulls and bears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01752" y="1554480"/>
            <a:ext cx="2715768" cy="3246120"/>
          </a:xfrm>
          <a:prstGeom prst="rect">
            <a:avLst/>
          </a:prstGeom>
          <a:solidFill>
            <a:srgbClr val="FDF5F5"/>
          </a:solidFill>
          <a:ln w="6350">
            <a:solidFill>
              <a:srgbClr val="D8DC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01752" y="1554480"/>
            <a:ext cx="2715768" cy="73152"/>
          </a:xfrm>
          <a:prstGeom prst="rect">
            <a:avLst/>
          </a:prstGeom>
          <a:solidFill>
            <a:srgbClr val="8310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38912" y="1664208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831011"/>
                </a:solidFill>
                <a:latin typeface="PP Eiko Light" pitchFamily="34" charset="0"/>
                <a:ea typeface="PP Eiko Light" pitchFamily="34" charset="-122"/>
                <a:cs typeface="PP Eiko Light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38912" y="2029968"/>
            <a:ext cx="2441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demand floor is higher than consensus assumes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2615184"/>
            <a:ext cx="2441448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Global oil demand ~103 mb/d and holding through 2030 in all credible scenarios, including IEA's most ambitious transition path.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Road transport electrification addresses ~57% of oil demand. Shipping, aviation, and petrochemicals cannot decarbonise on the same timeline.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Non-combustion uses — fertilisers (Haber-Bosch feeds ~4bn people), plastics (14 mb/d equiv), pharmaceuticals — are structurally inelastic. They grow with population, not with petrol prices.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Peak demand is a 2030s event at the earliest. The market is pricing it as a 2020s event.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77540" y="1554480"/>
            <a:ext cx="2715768" cy="3246120"/>
          </a:xfrm>
          <a:prstGeom prst="rect">
            <a:avLst/>
          </a:prstGeom>
          <a:solidFill>
            <a:srgbClr val="F0F5FA"/>
          </a:solidFill>
          <a:ln w="6350">
            <a:solidFill>
              <a:srgbClr val="D8DC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177540" y="1554480"/>
            <a:ext cx="2715768" cy="73152"/>
          </a:xfrm>
          <a:prstGeom prst="rect">
            <a:avLst/>
          </a:prstGeom>
          <a:solidFill>
            <a:srgbClr val="1057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314700" y="1664208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05782"/>
                </a:solidFill>
                <a:latin typeface="PP Eiko Light" pitchFamily="34" charset="0"/>
                <a:ea typeface="PP Eiko Light" pitchFamily="34" charset="-122"/>
                <a:cs typeface="PP Eiko Light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14700" y="2029968"/>
            <a:ext cx="2441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the value sits in Upstream E&amp;P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14700" y="2615184"/>
            <a:ext cx="2441448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E&amp;P profit pool ~$500bn. Refining ~$50bn. Trading ~$15bn. Petrochemicals ~$60bn. The value chain concentrates reward at the resource owner.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Refining crack spreads ($15–25/bbl) are cyclical and compressed by overcapacity in Asia. Structurally thin margins are the rule, not the exception.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Post-2015 capital discipline has tightened long-cycle supply (offshore, deepwater, Arctic) without equivalent demand destruction. The depletion clock is running.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IOC underinvestment: majors returned $150bn+ to shareholders in 2022–23 while deferring long-cycle projects. Supply response to any demand surprise will be slow.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053328" y="1554480"/>
            <a:ext cx="2715768" cy="3246120"/>
          </a:xfrm>
          <a:prstGeom prst="rect">
            <a:avLst/>
          </a:prstGeom>
          <a:solidFill>
            <a:srgbClr val="F0F7F5"/>
          </a:solidFill>
          <a:ln w="6350">
            <a:solidFill>
              <a:srgbClr val="D8DC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6053328" y="1554480"/>
            <a:ext cx="2715768" cy="73152"/>
          </a:xfrm>
          <a:prstGeom prst="rect">
            <a:avLst/>
          </a:prstGeom>
          <a:solidFill>
            <a:srgbClr val="04404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190488" y="1664208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44049"/>
                </a:solidFill>
                <a:latin typeface="PP Eiko Light" pitchFamily="34" charset="0"/>
                <a:ea typeface="PP Eiko Light" pitchFamily="34" charset="-122"/>
                <a:cs typeface="PP Eiko Light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190488" y="2029968"/>
            <a:ext cx="2441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risk is asymmetric to the upside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90488" y="2615184"/>
            <a:ext cx="2441448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OPEC+ effective spare capacity is Saudi- and UAE-concentrated. Saudi Arabia holds ~5 mb/d, UAE ~1.5 mb/d. All other members combined: &lt;1 mb/d credible spare.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Strait of Hormuz: 20% of global oil (14–16 mb/d crude + 5–6 mb/d products) through a 3-mile navigable channel. Zero credible alternative routing at scale.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Russian export rerouting via shadow fleet (90+ vessels, six-fold increase since 2022) creates opaque, fragile supply chains that amplify any geopolitical shock.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 single escalation event — Hormuz closure, coordinated drone strikes on Saudi infrastructure, Russian fleet interdiction — removes 10–20% of global supply with no short-term substitute.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872" y="109728"/>
            <a:ext cx="8906256" cy="1371600"/>
          </a:xfrm>
          <a:prstGeom prst="rect">
            <a:avLst/>
          </a:prstGeom>
          <a:solidFill>
            <a:srgbClr val="EEF0F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329184" y="621792"/>
            <a:ext cx="420624" cy="22860"/>
          </a:xfrm>
          <a:prstGeom prst="rect">
            <a:avLst/>
          </a:prstGeom>
          <a:solidFill>
            <a:srgbClr val="8310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9184" y="66751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2D2D2D"/>
                </a:solidFill>
                <a:latin typeface="PP Eiko Light" pitchFamily="34" charset="0"/>
                <a:ea typeface="PP Eiko Light" pitchFamily="34" charset="-122"/>
                <a:cs typeface="PP Eiko Light" pitchFamily="34" charset="-120"/>
              </a:rPr>
              <a:t>The Value Chain — by Revenue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9184" y="118872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Bubble size = estimated annual segment revenue (USD bn)  ·  Oilfield Services supports Upstream — not a sequential step in the chain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832104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ysDash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1556508" y="2651760"/>
            <a:ext cx="772424" cy="0"/>
          </a:xfrm>
          <a:prstGeom prst="line">
            <a:avLst/>
          </a:prstGeom>
          <a:noFill/>
          <a:ln w="12700">
            <a:solidFill>
              <a:srgbClr val="8310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510036" y="2155956"/>
            <a:ext cx="991608" cy="991608"/>
          </a:xfrm>
          <a:prstGeom prst="ellipse">
            <a:avLst/>
          </a:prstGeom>
          <a:solidFill>
            <a:srgbClr val="831011">
              <a:alpha val="80000"/>
            </a:srgbClr>
          </a:solidFill>
          <a:ln w="19050">
            <a:solidFill>
              <a:srgbClr val="8310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10036" y="2587752"/>
            <a:ext cx="991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$1500bn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" y="323900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Upstream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E&amp;P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" y="36230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 &amp; Production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011164" y="2651760"/>
            <a:ext cx="906144" cy="0"/>
          </a:xfrm>
          <a:prstGeom prst="line">
            <a:avLst/>
          </a:prstGeom>
          <a:noFill/>
          <a:ln w="12700">
            <a:solidFill>
              <a:srgbClr val="8310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2383796" y="2365508"/>
            <a:ext cx="572505" cy="572505"/>
          </a:xfrm>
          <a:prstGeom prst="ellipse">
            <a:avLst/>
          </a:prstGeom>
          <a:solidFill>
            <a:srgbClr val="831011">
              <a:alpha val="80000"/>
            </a:srgbClr>
          </a:solidFill>
          <a:ln w="19050">
            <a:solidFill>
              <a:srgbClr val="8310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2383796" y="2600554"/>
            <a:ext cx="57250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$500bn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892808" y="30294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Midstream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92808" y="34135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Pipelines, Storage &amp; LNG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1204" y="2651760"/>
            <a:ext cx="552316" cy="0"/>
          </a:xfrm>
          <a:prstGeom prst="line">
            <a:avLst/>
          </a:prstGeom>
          <a:noFill/>
          <a:ln w="12700">
            <a:solidFill>
              <a:srgbClr val="8310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3972172" y="2289676"/>
            <a:ext cx="724168" cy="724168"/>
          </a:xfrm>
          <a:prstGeom prst="ellipse">
            <a:avLst/>
          </a:prstGeom>
          <a:solidFill>
            <a:srgbClr val="831011">
              <a:alpha val="80000"/>
            </a:srgbClr>
          </a:solidFill>
          <a:ln w="19050">
            <a:solidFill>
              <a:srgbClr val="8310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972172" y="2600554"/>
            <a:ext cx="724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$800bn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557016" y="310528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57016" y="34893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Traders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693408" y="2651760"/>
            <a:ext cx="588022" cy="0"/>
          </a:xfrm>
          <a:prstGeom prst="line">
            <a:avLst/>
          </a:prstGeom>
          <a:noFill/>
          <a:ln w="12700">
            <a:solidFill>
              <a:srgbClr val="8310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5358384" y="2011680"/>
            <a:ext cx="1280160" cy="1280160"/>
          </a:xfrm>
          <a:prstGeom prst="ellipse">
            <a:avLst/>
          </a:prstGeom>
          <a:solidFill>
            <a:srgbClr val="831011">
              <a:alpha val="80000"/>
            </a:srgbClr>
          </a:solidFill>
          <a:ln w="19050">
            <a:solidFill>
              <a:srgbClr val="8310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5358384" y="2568550"/>
            <a:ext cx="128016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$2500bn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21224" y="33832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21224" y="37673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Downstream Processing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36294" y="2325382"/>
            <a:ext cx="652756" cy="652756"/>
          </a:xfrm>
          <a:prstGeom prst="ellipse">
            <a:avLst/>
          </a:prstGeom>
          <a:solidFill>
            <a:srgbClr val="831011">
              <a:alpha val="80000"/>
            </a:srgbClr>
          </a:solidFill>
          <a:ln w="19050">
            <a:solidFill>
              <a:srgbClr val="8310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7336294" y="2600554"/>
            <a:ext cx="6527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$650bn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885432" y="306957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Petro-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chemicals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85432" y="345362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Specialty Chemicals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005840" y="3202428"/>
            <a:ext cx="0" cy="983772"/>
          </a:xfrm>
          <a:prstGeom prst="line">
            <a:avLst/>
          </a:prstGeom>
          <a:noFill/>
          <a:ln w="9525">
            <a:solidFill>
              <a:srgbClr val="BBBBBB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766344" y="4241064"/>
            <a:ext cx="478992" cy="478992"/>
          </a:xfrm>
          <a:prstGeom prst="ellipse">
            <a:avLst/>
          </a:prstGeom>
          <a:solidFill>
            <a:srgbClr val="831011">
              <a:alpha val="45000"/>
            </a:srgbClr>
          </a:solidFill>
          <a:ln w="12700">
            <a:solidFill>
              <a:srgbClr val="831011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1005840" y="4076472"/>
            <a:ext cx="0" cy="128016"/>
          </a:xfrm>
          <a:prstGeom prst="line">
            <a:avLst/>
          </a:prstGeom>
          <a:noFill/>
          <a:ln w="9525">
            <a:solidFill>
              <a:srgbClr val="8310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548640" y="38935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31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$350bn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373352" y="43342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Oilfield Services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373352" y="46085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Drilling &amp; Well Services  ·  support function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29184" y="4956048"/>
            <a:ext cx="8485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31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Refining generates the most revenue — but the thinnest margins. The next slide shows where value actually accumulates.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872" y="109728"/>
            <a:ext cx="8906256" cy="1371600"/>
          </a:xfrm>
          <a:prstGeom prst="rect">
            <a:avLst/>
          </a:prstGeom>
          <a:solidFill>
            <a:srgbClr val="EEF0F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329184" y="621792"/>
            <a:ext cx="420624" cy="22860"/>
          </a:xfrm>
          <a:prstGeom prst="rect">
            <a:avLst/>
          </a:prstGeom>
          <a:solidFill>
            <a:srgbClr val="8310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9184" y="66751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2D2D2D"/>
                </a:solidFill>
                <a:latin typeface="PP Eiko Light" pitchFamily="34" charset="0"/>
                <a:ea typeface="PP Eiko Light" pitchFamily="34" charset="-122"/>
                <a:cs typeface="PP Eiko Light" pitchFamily="34" charset="-120"/>
              </a:rPr>
              <a:t>The Value Chain — Profit Pool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9184" y="118872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Bubble size = estimated annual profit pool (USD bn)  ·  Upstream E&amp;P captures the dominant share of industry value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832104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ysDash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1700784" y="2651760"/>
            <a:ext cx="733358" cy="0"/>
          </a:xfrm>
          <a:prstGeom prst="line">
            <a:avLst/>
          </a:prstGeom>
          <a:noFill/>
          <a:ln w="12700">
            <a:solidFill>
              <a:srgbClr val="8310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1280160" cy="1280160"/>
          </a:xfrm>
          <a:prstGeom prst="ellipse">
            <a:avLst/>
          </a:prstGeom>
          <a:solidFill>
            <a:srgbClr val="831011">
              <a:alpha val="80000"/>
            </a:srgbClr>
          </a:solidFill>
          <a:ln w="19050">
            <a:solidFill>
              <a:srgbClr val="8310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65760" y="2568550"/>
            <a:ext cx="128016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$500bn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" y="33832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Upstream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E&amp;P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" y="37673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 &amp; Production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05954" y="2651760"/>
            <a:ext cx="1262573" cy="0"/>
          </a:xfrm>
          <a:prstGeom prst="line">
            <a:avLst/>
          </a:prstGeom>
          <a:noFill/>
          <a:ln w="12700">
            <a:solidFill>
              <a:srgbClr val="8310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2489006" y="2470718"/>
            <a:ext cx="362084" cy="362084"/>
          </a:xfrm>
          <a:prstGeom prst="ellipse">
            <a:avLst/>
          </a:prstGeom>
          <a:solidFill>
            <a:srgbClr val="831011">
              <a:alpha val="80000"/>
            </a:srgbClr>
          </a:solidFill>
          <a:ln w="19050">
            <a:solidFill>
              <a:srgbClr val="8310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2670048" y="2287838"/>
            <a:ext cx="0" cy="146304"/>
          </a:xfrm>
          <a:prstGeom prst="line">
            <a:avLst/>
          </a:prstGeom>
          <a:noFill/>
          <a:ln w="9525">
            <a:solidFill>
              <a:srgbClr val="8310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2167128" y="210495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31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$40bn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92808" y="292424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Midstream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92808" y="330829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Pipelines, Storage &amp; LNG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99985" y="2651760"/>
            <a:ext cx="1241204" cy="0"/>
          </a:xfrm>
          <a:prstGeom prst="line">
            <a:avLst/>
          </a:prstGeom>
          <a:noFill/>
          <a:ln w="12700">
            <a:solidFill>
              <a:srgbClr val="8310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223391" y="2540895"/>
            <a:ext cx="221730" cy="221730"/>
          </a:xfrm>
          <a:prstGeom prst="ellipse">
            <a:avLst/>
          </a:prstGeom>
          <a:solidFill>
            <a:srgbClr val="831011">
              <a:alpha val="80000"/>
            </a:srgbClr>
          </a:solidFill>
          <a:ln w="19050">
            <a:solidFill>
              <a:srgbClr val="8310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334256" y="2358015"/>
            <a:ext cx="0" cy="146304"/>
          </a:xfrm>
          <a:prstGeom prst="line">
            <a:avLst/>
          </a:prstGeom>
          <a:noFill/>
          <a:ln w="9525">
            <a:solidFill>
              <a:srgbClr val="8310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3831336" y="2175135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31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$15bn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57016" y="2854065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57016" y="3238113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Traders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55739" y="2651760"/>
            <a:ext cx="1130339" cy="0"/>
          </a:xfrm>
          <a:prstGeom prst="line">
            <a:avLst/>
          </a:prstGeom>
          <a:noFill/>
          <a:ln w="12700">
            <a:solidFill>
              <a:srgbClr val="8310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5796053" y="2449349"/>
            <a:ext cx="404822" cy="404822"/>
          </a:xfrm>
          <a:prstGeom prst="ellipse">
            <a:avLst/>
          </a:prstGeom>
          <a:solidFill>
            <a:srgbClr val="831011">
              <a:alpha val="80000"/>
            </a:srgbClr>
          </a:solidFill>
          <a:ln w="19050">
            <a:solidFill>
              <a:srgbClr val="8310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5998464" y="2266469"/>
            <a:ext cx="0" cy="146304"/>
          </a:xfrm>
          <a:prstGeom prst="line">
            <a:avLst/>
          </a:prstGeom>
          <a:noFill/>
          <a:ln w="9525">
            <a:solidFill>
              <a:srgbClr val="8310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5495544" y="2083589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31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$50bn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21224" y="2945611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21224" y="3329659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Downstream Processing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440942" y="2430030"/>
            <a:ext cx="443460" cy="443460"/>
          </a:xfrm>
          <a:prstGeom prst="ellipse">
            <a:avLst/>
          </a:prstGeom>
          <a:solidFill>
            <a:srgbClr val="831011">
              <a:alpha val="80000"/>
            </a:srgbClr>
          </a:solidFill>
          <a:ln w="19050">
            <a:solidFill>
              <a:srgbClr val="8310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7440942" y="2600554"/>
            <a:ext cx="4434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$60bn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885432" y="296493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Petro-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chemicals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85432" y="334897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Specialty Chemicals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005840" y="3346704"/>
            <a:ext cx="0" cy="986213"/>
          </a:xfrm>
          <a:prstGeom prst="line">
            <a:avLst/>
          </a:prstGeom>
          <a:noFill/>
          <a:ln w="9525">
            <a:solidFill>
              <a:srgbClr val="BBBBBB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849053" y="4387781"/>
            <a:ext cx="313574" cy="313574"/>
          </a:xfrm>
          <a:prstGeom prst="ellipse">
            <a:avLst/>
          </a:prstGeom>
          <a:solidFill>
            <a:srgbClr val="831011">
              <a:alpha val="45000"/>
            </a:srgbClr>
          </a:solidFill>
          <a:ln w="12700">
            <a:solidFill>
              <a:srgbClr val="831011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1005840" y="4223189"/>
            <a:ext cx="0" cy="128016"/>
          </a:xfrm>
          <a:prstGeom prst="line">
            <a:avLst/>
          </a:prstGeom>
          <a:noFill/>
          <a:ln w="9525">
            <a:solidFill>
              <a:srgbClr val="8310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548640" y="4040309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31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$30bn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290643" y="43982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Oilfield Services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290643" y="46725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Drilling &amp; Well Services  ·  support function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29184" y="4956048"/>
            <a:ext cx="8485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31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Upstream E&amp;P dominates the profit pool. Refining's revenue leadership disappears on a profit basis — crack spreads are cyclical and structurally thin.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914</Words>
  <Application>Microsoft Office PowerPoint</Application>
  <PresentationFormat>On-screen Show (16:9)</PresentationFormat>
  <Paragraphs>98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PP Eiko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William Raynar</cp:lastModifiedBy>
  <cp:revision>1</cp:revision>
  <dcterms:created xsi:type="dcterms:W3CDTF">2026-03-11T13:29:22Z</dcterms:created>
  <dcterms:modified xsi:type="dcterms:W3CDTF">2026-03-11T14:42:35Z</dcterms:modified>
</cp:coreProperties>
</file>